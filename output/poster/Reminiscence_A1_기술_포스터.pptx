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95ffe621ed4c07" /><Relationship Type="http://schemas.openxmlformats.org/officeDocument/2006/relationships/extended-properties" Target="/docProps/app.xml" Id="R1e6b7bf4964f4d30" /><Relationship Type="http://schemas.openxmlformats.org/officeDocument/2006/relationships/officeDocument" Target="/ppt/presentation.xml" Id="R033f2316ded6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4b56b4c51c4245"/>
  </p:sldMasterIdLst>
  <p:notesMasterIdLst>
    <p:notesMasterId xmlns:r="http://schemas.openxmlformats.org/officeDocument/2006/relationships" r:id="R2a2d1a32fd5d44ee"/>
  </p:notesMasterIdLst>
  <p:sldIdLst>
    <p:sldId xmlns:r="http://schemas.openxmlformats.org/officeDocument/2006/relationships" id="256" r:id="R173fcbeb973c4a45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894562ad484484" /><Relationship Type="http://schemas.openxmlformats.org/officeDocument/2006/relationships/slideMaster" Target="/ppt/slideMasters/slideMaster1.xml" Id="Ref4b56b4c51c4245" /><Relationship Type="http://schemas.openxmlformats.org/officeDocument/2006/relationships/notesMaster" Target="/ppt/notesMasters/notesMaster1.xml" Id="R2a2d1a32fd5d44ee" /><Relationship Type="http://schemas.openxmlformats.org/officeDocument/2006/relationships/presProps" Target="/ppt/presProps.xml" Id="R73a4929306a54c37" /><Relationship Type="http://schemas.openxmlformats.org/officeDocument/2006/relationships/tableStyles" Target="/ppt/tableStyles.xml" Id="R90da3445ed15488d" /><Relationship Type="http://schemas.openxmlformats.org/officeDocument/2006/relationships/slide" Target="/ppt/slides/slide1.xml" Id="R173fcbeb973c4a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1f8726ed8a4c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9c484a2a724506" /><Relationship Type="http://schemas.openxmlformats.org/officeDocument/2006/relationships/notesMaster" Target="/ppt/notesMasters/notesMaster1.xml" Id="Rb89a40fe35b84c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/Users/ihyowon/src/Project/Team/Reminiscence-BE/src/reminiscence/asr/etri.py (ETRI request policy and privacy boundary)</a:t>
            </a:r>
          </a:p>
          <a:p xmlns:a="http://schemas.openxmlformats.org/drawingml/2006/main">
            <a:r>
              <a:t>- /Users/ihyowon/src/Project/Team/Reminiscence-BE/src/reminiscence/asr/audio_utils.py (16 kHz mono PCM normalization)</a:t>
            </a:r>
          </a:p>
          <a:p xmlns:a="http://schemas.openxmlformats.org/drawingml/2006/main">
            <a:r>
              <a:t>- /Users/ihyowon/src/Project/Team/Reminiscence-BE/src/reminiscence/tts/supertonic.py (Supertonic 3 settings and WAV encoding)</a:t>
            </a:r>
          </a:p>
          <a:p xmlns:a="http://schemas.openxmlformats.org/drawingml/2006/main">
            <a:r>
              <a:t>- /Users/ihyowon/src/Project/Team/Reminiscence-BE/src/reminiscence/tts/api.py (no-store response contract)</a:t>
            </a:r>
          </a:p>
          <a:p xmlns:a="http://schemas.openxmlformats.org/drawingml/2006/main">
            <a:r>
              <a:t>- /Users/ihyowon/src/Project/Team/Reminiscence-BE/src/reminiscence/routine/state_machine.py (routine timeline)</a:t>
            </a:r>
          </a:p>
          <a:p xmlns:a="http://schemas.openxmlformats.org/drawingml/2006/main">
            <a:r>
              <a:t>- /Users/ihyowon/src/Project/Team/Reminiscence-BE/deploy/configuration.example.json (demonstration timing)</a:t>
            </a:r>
          </a:p>
          <a:p xmlns:a="http://schemas.openxmlformats.org/drawingml/2006/main">
            <a:r>
              <a:t>- /Users/ihyowon/src/Project/Team/Reminiscence-BE/tests/anomaly/test_detector.py (synthetic replay fixture and expected anomaly)</a:t>
            </a:r>
          </a:p>
          <a:p xmlns:a="http://schemas.openxmlformats.org/drawingml/2006/main">
            <a:r>
              <a:t>- /Users/ihyowon/src/Project/Team/Reminiscence-BE/tests/integration/test_backend_mvp_flow.py (privacy and one-notification integration flow)</a:t>
            </a:r>
          </a:p>
          <a:p xmlns:a="http://schemas.openxmlformats.org/drawingml/2006/main">
            <a:r>
              <a:t>- /Users/ihyowon/src/Project/Team/Reminiscence-BE/output/poster/assets/fastapi-docs-live.png (captured from running local OpenAPI UI on 2026-07-27)</a:t>
            </a:r>
          </a:p>
          <a:p xmlns:a="http://schemas.openxmlformats.org/drawingml/2006/main">
            <a:r>
              <a:t>- https://aiopen.etri.re.kr/ (ETRI AI Open API)</a:t>
            </a:r>
          </a:p>
          <a:p xmlns:a="http://schemas.openxmlformats.org/drawingml/2006/main">
            <a:r>
              <a:t>- https://github.com/supertone-inc/supertonic (Supertonic 3)</a:t>
            </a:r>
          </a:p>
          <a:p xmlns:a="http://schemas.openxmlformats.org/drawingml/2006/main">
            <a:r>
              <a:t>- https://doi.org/10.1109/ICDM.2008.17 (Isolation Forest)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7d5dab5e841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4cab694dc140eb" /><Relationship Type="http://schemas.openxmlformats.org/officeDocument/2006/relationships/slideLayout" Target="/ppt/slideLayouts/slideLayout1.xml" Id="Rc9e33723f5da4c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e33723f5da4c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3b9898af548ec" /><Relationship Type="http://schemas.openxmlformats.org/officeDocument/2006/relationships/image" Target="/ppt/media/image.png" Id="Rb263f450e2de40ec" /><Relationship Type="http://schemas.openxmlformats.org/officeDocument/2006/relationships/image" Target="/ppt/media/image.jpeg" Id="Ra07b9c28142946de" /><Relationship Type="http://schemas.openxmlformats.org/officeDocument/2006/relationships/chart" Target="/ppt/slides/charts/chart1.xml" Id="Rebcc098c43244a33" /><Relationship Type="http://schemas.openxmlformats.org/officeDocument/2006/relationships/notesSlide" Target="/ppt/notesSlides/notesSlide1.xml" Id="R1abf3ecbef244970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세션 총 글자 수</c:v>
          </c:tx>
          <c:spPr>
            <a:ln xmlns:a="http://schemas.openxmlformats.org/drawingml/2006/main" w="38100">
              <a:solidFill>
                <a:srgbClr val="0C6B63"/>
              </a:solidFill>
              <a:prstDash val="solid"/>
            </a:ln>
          </c:spPr>
          <c:marker>
            <c:symbol val="none"/>
          </c:marker>
          <c:dPt>
            <c:idx val="20"/>
            <c:spPr>
              <a:solidFill xmlns:a="http://schemas.openxmlformats.org/drawingml/2006/main">
                <a:srgbClr val="B85E3B"/>
              </a:solidFill>
              <a:ln xmlns:a="http://schemas.openxmlformats.org/drawingml/2006/main" w="19050">
                <a:solidFill>
                  <a:srgbClr val="B85E3B"/>
                </a:solidFill>
                <a:prstDash val="solid"/>
              </a:ln>
            </c:spPr>
          </c:dPt>
          <c:cat>
            <c:strLit>
              <c:ptCount val="21"/>
              <c:pt idx="0">
                <c:v>1</c:v>
              </c:pt>
              <c:pt idx="1">
                <c:v/>
              </c:pt>
              <c:pt idx="2">
                <c:v/>
              </c:pt>
              <c:pt idx="3">
                <c:v/>
              </c:pt>
              <c:pt idx="4">
                <c:v>5</c:v>
              </c:pt>
              <c:pt idx="5">
                <c:v/>
              </c:pt>
              <c:pt idx="6">
                <c:v/>
              </c:pt>
              <c:pt idx="7">
                <c:v/>
              </c:pt>
              <c:pt idx="8">
                <c:v/>
              </c:pt>
              <c:pt idx="9">
                <c:v>10</c:v>
              </c:pt>
              <c:pt idx="10">
                <c:v/>
              </c:pt>
              <c:pt idx="11">
                <c:v/>
              </c:pt>
              <c:pt idx="12">
                <c:v/>
              </c:pt>
              <c:pt idx="13">
                <c:v/>
              </c:pt>
              <c:pt idx="14">
                <c:v>15</c:v>
              </c:pt>
              <c:pt idx="15">
                <c:v/>
              </c:pt>
              <c:pt idx="16">
                <c:v/>
              </c:pt>
              <c:pt idx="17">
                <c:v/>
              </c:pt>
              <c:pt idx="18">
                <c:v/>
              </c:pt>
              <c:pt idx="19">
                <c:v>20</c:v>
              </c:pt>
              <c:pt idx="20">
                <c:v>21</c:v>
              </c:pt>
            </c:strLit>
          </c:cat>
          <c:val>
            <c:numLit>
              <c:formatCode>General</c:formatCode>
              <c:ptCount val="21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100</c:v>
              </c:pt>
              <c:pt idx="7">
                <c:v>100</c:v>
              </c:pt>
              <c:pt idx="8">
                <c:v>100</c:v>
              </c:pt>
              <c:pt idx="9">
                <c:v>100</c:v>
              </c:pt>
              <c:pt idx="10">
                <c:v>100</c:v>
              </c:pt>
              <c:pt idx="11">
                <c:v>100</c:v>
              </c:pt>
              <c:pt idx="12">
                <c:v>100</c:v>
              </c:pt>
              <c:pt idx="13">
                <c:v>100</c:v>
              </c:pt>
              <c:pt idx="14">
                <c:v>100</c:v>
              </c:pt>
              <c:pt idx="15">
                <c:v>100</c:v>
              </c:pt>
              <c:pt idx="16">
                <c:v>100</c:v>
              </c:pt>
              <c:pt idx="17">
                <c:v>100</c:v>
              </c:pt>
              <c:pt idx="18">
                <c:v>100</c:v>
              </c:pt>
              <c:pt idx="19">
                <c:v>100</c:v>
              </c:pt>
              <c:pt idx="2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2616C"/>
                    </a:solidFill>
                  </a:rPr>
                  <a:t>완료 세션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2616C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2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C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2616C"/>
                    </a:solidFill>
                  </a:rPr>
                  <a:t>총 글자 수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2616C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2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C"/>
                </a:solidFill>
              </a:defRPr>
            </a:pPr>
          </a:p>
        </c:txPr>
        <c:crossAx val="48650112"/>
        <c:crossBetween val="between"/>
        <c:majorUnit val="4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a1-main-title">
            <a:extLst xmlns:a="http://schemas.openxmlformats.org/drawingml/2006/main">
              <a:ext uri="{FF2B5EF4-FFF2-40B4-BE49-F238E27FC236}">
                <a16:creationId xmlns:a16="http://schemas.microsoft.com/office/drawing/2014/main" id="{8F38DE0C-4073-4EA5-9095-FFBDD492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9600"/>
            <a:ext cx="2095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85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음성 처리, 상태 전이, 재현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A254C-657A-4370-ADC5-30440952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2095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Reminiscence technical appendix · 실제 백엔드 구현과 테스트 근거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3f450e2de40ec"/>
          <a:stretch xmlns:a="http://schemas.openxmlformats.org/drawingml/2006/main"/>
        </p:blipFill>
        <p:spPr>
          <a:xfrm xmlns:a="http://schemas.openxmlformats.org/drawingml/2006/main">
            <a:off x="26860500" y="49530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7136D-FCC7-459F-9232-1EB5D842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75" y="2857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코드 · 문서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04D3C-EAF1-40D2-869B-33819DA8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846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966F7-2049-43C6-A1E0-3BB88692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1847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음성 처리 경계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121C6-9E5F-4B62-BE1B-B1CA8F65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1847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3AA8A-C7F0-48FE-BE82-27695D78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57700"/>
            <a:ext cx="1847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ETRI ASR은 외부 통신, Supertonic 3 TTS는 Raspberry Pi 로컬 실행이다. 두 경로 모두 원본 음성과 생성 WAV를 장기 저장하지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D102A-C1BB-410F-AE4E-6F07CEE8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286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86D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84B74-4C3D-4B55-81A3-955B6033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86D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82AEB-13CE-4544-8D4F-B6D241E2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6286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6B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EC9B9-6DAB-4223-BDAD-9AB3A1C6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0486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6B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6C06F-DB5B-4350-BBF0-89601CE6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0486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6B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2EFB1-4424-4D70-85D5-E0B3AA6F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486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6B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85126-A2F4-4FD1-93BD-7A488C7E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905125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86D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6F38A-75F2-4ADC-B211-41F326A5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572125"/>
            <a:ext cx="2409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rPr>
              <a:t>태블릿 WAV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B34FB-8A0E-49C8-8600-86377F5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124575"/>
            <a:ext cx="24098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최대 10 MiB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54902-E1F5-424C-AFD0-A0030805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81625"/>
            <a:ext cx="3333750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19050">
            <a:solidFill>
              <a:srgbClr val="386D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094AD-15FF-471F-859A-8691A305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572125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rPr>
              <a:t>입력 정규화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A809F-35D3-4E55-96F4-96264A7E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24575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16 kHz · mono · PCM 16-bit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5FD7D-B0A9-4FC0-A63D-EAC42BBF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81625"/>
            <a:ext cx="3333750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19050">
            <a:solidFill>
              <a:srgbClr val="386D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95568-1B01-46CF-9754-E38A551A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572125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rPr>
              <a:t>ETRI ASR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4C194-8C7B-4C26-B987-A673B5B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24575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한국어 · 직렬 호출 · 최대 2회 재시도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0B879-F442-46C3-AB6F-920FA30A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381625"/>
            <a:ext cx="3476625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E4F1EE"/>
          </a:solidFill>
          <a:ln xmlns:a="http://schemas.openxmlformats.org/drawingml/2006/main" w="19050">
            <a:solidFill>
              <a:srgbClr val="0C6B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10B77A-8012-4650-A92F-C9DA9D7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5572125"/>
            <a:ext cx="2981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지표 축약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74613-A39B-4F47-8EEF-048BA932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6124575"/>
            <a:ext cx="29813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글자 수 · 입력 시간 · 무응답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transcript 폐기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A5FC3-C943-40AF-95A5-B2B76C54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39000"/>
            <a:ext cx="2905125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C6B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39AA4-F09D-4C43-95A7-1B5DCA32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7429500"/>
            <a:ext cx="2409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spoken_text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553B5D-B542-4E14-96F3-1771C6FE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7981950"/>
            <a:ext cx="24098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최대 500자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398D30-59BE-4B38-A6EB-187DF401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239000"/>
            <a:ext cx="3333750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E4F1EE"/>
          </a:solidFill>
          <a:ln xmlns:a="http://schemas.openxmlformats.org/drawingml/2006/main" w="19050">
            <a:solidFill>
              <a:srgbClr val="0C6B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84C651-ED0F-4124-9D12-BBB2AE40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74295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Supertonic 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45FB18-30A6-4803-BD3F-894D2743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798195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ko · F1 · 0.9배속 · 8 steps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D71AB9-76AA-4848-B5D4-D6EA59C8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39000"/>
            <a:ext cx="3333750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C6B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3D1CCE-8C13-4296-B3ED-928F5C21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74295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PCM WAV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418A0F-6DEB-4A47-9BA9-A1A6CE8C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798195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16-bit · 44.1 kHz 계약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BF85F8-4BED-411D-9E82-1A602691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7239000"/>
            <a:ext cx="3476625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E4F1EE"/>
          </a:solidFill>
          <a:ln xmlns:a="http://schemas.openxmlformats.org/drawingml/2006/main" w="19050">
            <a:solidFill>
              <a:srgbClr val="0C6B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1D37CF-B7F9-4CB2-BC10-1568432C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7429500"/>
            <a:ext cx="2981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태블릿 재생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B95BF5-D23C-4A19-B821-1120FD8C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7981950"/>
            <a:ext cx="29813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Cache-Control: no-store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TTS 계층 미저장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0D1A3F-BE12-4CB4-A6D2-D449CCA0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096375"/>
            <a:ext cx="1819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그림 1. 실제 구현의 음성 입출력 경계. Raspberry Pi 실측 latency와 RTF, ETRI WER·CER는 아직 측정하지 않았다.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F229D7-3773-48BD-8AA4-221BEA3B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3714750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실행 중인 API 문서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66F975-D040-4E20-8B18-3EF0742D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42672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b9c28142946de"/>
          <a:srcRect xmlns:a="http://schemas.openxmlformats.org/drawingml/2006/main" l="0" t="9863" r="0" b="98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97750" y="4619625"/>
            <a:ext cx="9239250" cy="41719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D3F535-2EE6-417A-B2AB-3E8D2B0B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4619625"/>
            <a:ext cx="9239250" cy="4171950"/>
          </a:xfrm>
          <a:prstGeom xmlns:a="http://schemas.openxmlformats.org/drawingml/2006/main" prst="roundRect">
            <a:avLst>
              <a:gd name="adj" fmla="val 91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CBB6E0-F3B0-4B9C-A8CA-C95F62D2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0" y="89535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그림 2. 로컬 실행 화면. anomaly, notification, Supertonic 3 TTS endpoint가 OpenAPI 3.1 문서에 등록되어 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A40AB8-44A7-4108-82DF-E8145FD6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95362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루틴 상태 머신 · 시연 설정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B8EFA0-0A8F-4449-83DC-CFC05E01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4965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ABB9D7-8B6D-4D66-8A0D-28D2DF04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6870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예정 09:00 · 유예 10분 · 재알림 10분 간격 3회 · 09:40 미응답 확정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5401FB-240F-49C3-93AE-DC6D6FF7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43012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D2D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97F6DD-703C-461A-A1DB-C5AF7DBB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229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FC6D0D-F25C-427C-B31E-D36CC27C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5252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09:00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515D0F-DDD3-4E4C-B138-B99B476F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7635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최초 안내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46AE40-2E31-4391-8AB5-43F25F0B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29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DC09FC-A257-4345-B3C3-CF8D4F6C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5252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09:10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7C52CB-CCD5-4ADF-99EF-6EDD5D2F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27635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재알림 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8584D3-EA16-40D0-9DAD-DDF03F90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229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014620-9806-470A-8E64-9C7DA266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15252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09:20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DBAE14-4F42-4183-9A75-2A96058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27635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재알림 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379BFB-C82F-4E1A-9263-C20B1519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229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6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8FC3D5-9D6B-4FAE-9E46-5427A0AA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5252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09:30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BBA74F-058E-416C-A3FA-1E889932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27635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재알림 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A7A5D6B-41EA-4182-9E72-44988F80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1229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E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EB4A3A-E59F-44AC-A2C3-C66A8242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5252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09:40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9584CA-FDB9-49B1-9460-4CE6286C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27635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rPr>
              <a:t>입력 종료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2CB478-BEB2-4571-85EB-E66C03BE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573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그림 3. deploy/configuration.example.json과 state_machine.py로 재현한 시연 시간축. 설정값은 운영에서 변경할 수 있다.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EC466C-963E-48ED-A9BA-1E45C248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995362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합성 테스트 입력에 대한 이상 탐지 재현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94C57E-EE97-4FFC-87AE-6072EC7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104965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87FD90-8E7B-4D23-BD9F-6AC06D8E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106870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rPr>
              <a:t>사용자 데이터 아님 · 대화 20세션 기준선 뒤 21번째 세션의 입력을 변경</a:t>
            </a:r>
          </a:p>
        </p:txBody>
      </p:sp>
      <p:graphicFrame>
        <p:nvGraphicFramePr>
          <p:cNvPr id="156" name="Chart"/>
          <p:cNvGraphicFramePr/>
          <p:nvPr/>
        </p:nvGraphicFramePr>
        <p:xfrm>
          <a:off xmlns:a="http://schemas.openxmlformats.org/drawingml/2006/main" x="12239625" y="11239500"/>
          <a:ext xmlns:a="http://schemas.openxmlformats.org/drawingml/2006/main" cx="657225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cc098c43244a33"/>
          </a:graphicData>
        </a:graphic>
      </p:graphicFrame>
      <p:graphicFrame>
        <p:nvGraphicFramePr>
          <p:cNvPr id="157" name=""/>
          <p:cNvGraphicFramePr/>
          <p:nvPr/>
        </p:nvGraphicFramePr>
        <p:xfrm>
          <a:off xmlns:a="http://schemas.openxmlformats.org/drawingml/2006/main" x="18954750" y="11334750"/>
          <a:ext xmlns:a="http://schemas.openxmlformats.org/drawingml/2006/main" cx="3952875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047750"/>
                <a:gridCol w="1143000"/>
              </a:tblGrid>
              <a:tr h="396875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특징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기준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21회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</a:tr>
              <a:tr h="396875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7일 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총 글자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</a:tr>
              <a:tr h="396875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평균 글자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평균 시간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 s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 s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</a:tr>
              <a:tr h="396875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무응답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C01671-652D-47A1-A974-2F152CCE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14001750"/>
            <a:ext cx="10668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EAE4"/>
          </a:solidFill>
          <a:ln xmlns:a="http://schemas.openxmlformats.org/drawingml/2006/main" w="19050">
            <a:solidFill>
              <a:srgbClr val="B85E3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9E4E91-2E56-401D-AD20-019EDD15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14097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B85E3B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B85E3B"/>
                </a:solidFill>
                <a:latin typeface="Calibri"/>
                <a:ea typeface="Calibri"/>
                <a:cs typeface="Calibri"/>
              </a:rPr>
              <a:t>출력  ANOMALOUS · Isolation Forest score -0.001109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C616BC-78BD-488D-85BD-057858C9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9953625"/>
            <a:ext cx="5762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보호자 알림 문안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776D83-8745-4E20-8706-C5ABD517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10496550"/>
            <a:ext cx="576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9A46F6-521C-4F5B-85FB-E771D0B1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10810875"/>
            <a:ext cx="576262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D5FE7B-DA89-488F-960A-E0851DF0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110490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Reminiscence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C0C7DD-E7A8-4DCA-B040-8B303D10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115252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[Reminiscence] 생활 패턴 확인이 필요합니다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339AE06-66E8-468A-B239-7FD3355E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123444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6EA7F5-A704-49C1-BB83-82ADD8B0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12573000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확인 근거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최근 7일 회상 대화 사용자 턴 수가 개인 기준선보다 감소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회상 대화 무응답 횟수가 개인 기준선보다 증가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FECC0B-0E08-49F1-9D19-78C2FAE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1409700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의료 진단과 응급 신고를 대신하지 않는다는 문구를 함께 전송한다.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57A195-5208-4E55-97FE-48402FD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097125"/>
            <a:ext cx="1419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데이터 보존 정책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DF4B3F8-3F36-4AB7-8987-0147DD2A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630525"/>
            <a:ext cx="1419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graphicFrame>
        <p:nvGraphicFramePr>
          <p:cNvPr id="170" name=""/>
          <p:cNvGraphicFramePr/>
          <p:nvPr/>
        </p:nvGraphicFramePr>
        <p:xfrm>
          <a:off xmlns:a="http://schemas.openxmlformats.org/drawingml/2006/main" x="904875" y="15811500"/>
          <a:ext xmlns:a="http://schemas.openxmlformats.org/drawingml/2006/main" cx="141922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5810250"/>
                <a:gridCol w="5191125"/>
              </a:tblGrid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 경로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저장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</a:tr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사용자 WAV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태블릿 → Pi → ETRI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ETRI transcript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Pi 메모리에서 지표 축약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미저장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</a:tr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대화·루틴 지표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Pi 로컬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activity_metrics.json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이상 상태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Pi 로컬 평가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personal_state.json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</a:tr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TTS text·WAV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Pi → 태블릿 재생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TTS 계층 미저장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6EB154E-F2FF-4814-A4AF-5EDA9E01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5097125"/>
            <a:ext cx="1371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소프트웨어 검증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9EB9740-E404-405D-9C67-B6FFE548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563052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graphicFrame>
        <p:nvGraphicFramePr>
          <p:cNvPr id="173" name=""/>
          <p:cNvGraphicFramePr/>
          <p:nvPr/>
        </p:nvGraphicFramePr>
        <p:xfrm>
          <a:off xmlns:a="http://schemas.openxmlformats.org/drawingml/2006/main" x="15621000" y="15811500"/>
          <a:ext xmlns:a="http://schemas.openxmlformats.org/drawingml/2006/main" cx="13716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667500"/>
                <a:gridCol w="4191000"/>
              </a:tblGrid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해석 범위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</a:tr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pytest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172 passed · 1 warning · 1.80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기능·경계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Ruff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All checks passed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정적 검사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</a:tr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mypy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 files · no issues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타입 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 테스트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원문 비저장 · 동시 쓰기 · 이메일 1회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테스트 대역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</a:tr>
              <a:tr h="4445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WER/CER · Pi TTS 지연 · 정확도 · 사용자 연구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향후 평가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4239FC-A8A8-4C48-B445-6CDDE72D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04000"/>
            <a:ext cx="2846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DDF"/>
            </a:solidFill>
            <a:prstDash val="dash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28BB112-0E3C-41EE-B5CE-625DE126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770700"/>
            <a:ext cx="2846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7B899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i="0">
                <a:solidFill>
                  <a:srgbClr val="7B8992"/>
                </a:solidFill>
                <a:latin typeface="Apple SD Gothic Neo"/>
                <a:ea typeface="Apple SD Gothic Neo"/>
                <a:cs typeface="Apple SD Gothic Neo"/>
              </a:rPr>
              <a:t>참고문헌  Woods et al., Cochrane 2018 · Moon &amp; Park, BMC Geriatrics 2020 · Liu et al., ICDM 2008 · W3C WAI · ETRI AI Open API · Supertone Supertonic 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9A33DB0-3ED6-43AA-9B4C-8B06036F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526750"/>
            <a:ext cx="2846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9AA5A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i="0">
                <a:solidFill>
                  <a:srgbClr val="9AA5AB"/>
                </a:solidFill>
                <a:latin typeface="Apple SD Gothic Neo"/>
                <a:ea typeface="Apple SD Gothic Neo"/>
                <a:cs typeface="Apple SD Gothic Neo"/>
              </a:rPr>
              <a:t>하단 8 cm 안전 여백 · 전시 테이블과 장비에 가려져도 핵심 내용이 손실되지 않는 영역</a:t>
            </a:r>
          </a:p>
        </p:txBody>
      </p:sp>
    </p:spTree>
    <p:extLst>
      <p:ext uri="{BB962C8B-B14F-4D97-AF65-F5344CB8AC3E}">
        <p14:creationId xmlns:p14="http://schemas.microsoft.com/office/powerpoint/2010/main" val="1442806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2026-07-26T19:06:40.7000000Z</dcterms:created>
  <dcterms:modified xsi:type="dcterms:W3CDTF">2026-07-26T19:06:40.7000000Z</dcterms:modified>
</coreProperties>
</file>