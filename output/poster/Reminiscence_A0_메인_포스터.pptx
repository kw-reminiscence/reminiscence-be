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c8d322f22470f" /><Relationship Type="http://schemas.openxmlformats.org/officeDocument/2006/relationships/extended-properties" Target="/docProps/app.xml" Id="Rdd11cea092134e89" /><Relationship Type="http://schemas.openxmlformats.org/officeDocument/2006/relationships/officeDocument" Target="/ppt/presentation.xml" Id="Rec251b23036f47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551b29ff0245be"/>
  </p:sldMasterIdLst>
  <p:notesMasterIdLst>
    <p:notesMasterId xmlns:r="http://schemas.openxmlformats.org/officeDocument/2006/relationships" r:id="R0437baa05c834d6c"/>
  </p:notesMasterIdLst>
  <p:sldIdLst>
    <p:sldId xmlns:r="http://schemas.openxmlformats.org/officeDocument/2006/relationships" id="256" r:id="R3e1989126c2149a4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3e103ed2374657" /><Relationship Type="http://schemas.openxmlformats.org/officeDocument/2006/relationships/slideMaster" Target="/ppt/slideMasters/slideMaster1.xml" Id="Rbd551b29ff0245be" /><Relationship Type="http://schemas.openxmlformats.org/officeDocument/2006/relationships/notesMaster" Target="/ppt/notesMasters/notesMaster1.xml" Id="R0437baa05c834d6c" /><Relationship Type="http://schemas.openxmlformats.org/officeDocument/2006/relationships/presProps" Target="/ppt/presProps.xml" Id="R732656a7ffe043dc" /><Relationship Type="http://schemas.openxmlformats.org/officeDocument/2006/relationships/tableStyles" Target="/ppt/tableStyles.xml" Id="Ree5e0705eb6649a0" /><Relationship Type="http://schemas.openxmlformats.org/officeDocument/2006/relationships/slide" Target="/ppt/slides/slide1.xml" Id="R3e1989126c2149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55f3c7df0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e404ffd7a4723" /><Relationship Type="http://schemas.openxmlformats.org/officeDocument/2006/relationships/notesMaster" Target="/ppt/notesMasters/notesMaster1.xml" Id="Rfa6716a6309a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https://doi.org/10.1002/14651858.CD001120.pub3 (reminiscence evidence and limitations)</a:t>
            </a:r>
          </a:p>
          <a:p xmlns:a="http://schemas.openxmlformats.org/drawingml/2006/main">
            <a:r>
              <a:t>- https://doi.org/10.1186/s12877-020-01563-2 (digital reminiscence pilot RCT)</a:t>
            </a:r>
          </a:p>
          <a:p xmlns:a="http://schemas.openxmlformats.org/drawingml/2006/main">
            <a:r>
              <a:t>- https://www.w3.org/WAI/older-users/ (older-user accessibility)</a:t>
            </a:r>
          </a:p>
          <a:p xmlns:a="http://schemas.openxmlformats.org/drawingml/2006/main">
            <a:r>
              <a:t>- https://doi.org/10.1109/ICDM.2008.17 (Isolation Forest)</a:t>
            </a:r>
          </a:p>
          <a:p xmlns:a="http://schemas.openxmlformats.org/drawingml/2006/main">
            <a:r>
              <a:t>- https://aiopen.etri.re.kr/ (ETRI AI Open API)</a:t>
            </a:r>
          </a:p>
          <a:p xmlns:a="http://schemas.openxmlformats.org/drawingml/2006/main">
            <a:r>
              <a:t>- https://github.com/supertone-inc/supertonic (Supertonic 3)</a:t>
            </a:r>
          </a:p>
          <a:p xmlns:a="http://schemas.openxmlformats.org/drawingml/2006/main">
            <a:r>
              <a:t>- /Users/ihyowon/src/Project/Team/Reminiscence-BE/README.md (system boundary and retention policy)</a:t>
            </a:r>
          </a:p>
          <a:p xmlns:a="http://schemas.openxmlformats.org/drawingml/2006/main">
            <a:r>
              <a:t>- /Users/ihyowon/src/Project/Team/Reminiscence-BE/src/reminiscence/anomaly/detector.py (actual anomaly logic and parameters)</a:t>
            </a:r>
          </a:p>
          <a:p xmlns:a="http://schemas.openxmlformats.org/drawingml/2006/main">
            <a:r>
              <a:t>- /Users/ihyowon/src/Project/Team/Reminiscence-BE/tests/integration/test_backend_mvp_flow.py (integration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30bec712740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b7d5b0dc04312" /><Relationship Type="http://schemas.openxmlformats.org/officeDocument/2006/relationships/slideLayout" Target="/ppt/slideLayouts/slideLayout1.xml" Id="Rae7abd9055b644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abd9055b644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8ee6498d442d7" /><Relationship Type="http://schemas.openxmlformats.org/officeDocument/2006/relationships/image" Target="/ppt/media/image.png" Id="Rd9c3d028f43242cc" /><Relationship Type="http://schemas.openxmlformats.org/officeDocument/2006/relationships/notesSlide" Target="/ppt/notesSlides/notesSlide1.xml" Id="Rcc0ba9c02a4d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a0-main-title">
            <a:extLst xmlns:a="http://schemas.openxmlformats.org/drawingml/2006/main">
              <a:ext uri="{FF2B5EF4-FFF2-40B4-BE49-F238E27FC236}">
                <a16:creationId xmlns:a16="http://schemas.microsoft.com/office/drawing/2014/main" id="{8D0777A4-F661-49B4-AB50-66E7DBA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85800"/>
            <a:ext cx="3333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85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가족사진 회상 대화와 개인 기준 이상 탐지를 결합한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85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55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Raspberry Pi 기반 스마트 케어 액자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65CAC-F7AD-4DE5-9799-F20D03C2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62300"/>
            <a:ext cx="2857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Reminiscence · 비임상 프로토타입 설계 및 소프트웨어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2D199-2121-42F1-B28F-1053832C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0" y="876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75" b="0" i="0">
                <a:solidFill>
                  <a:srgbClr val="52616C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52616C"/>
                </a:solidFill>
                <a:latin typeface="Calibri"/>
                <a:ea typeface="Calibri"/>
                <a:cs typeface="Calibri"/>
              </a:rPr>
              <a:t>KW-Reminiscence · 2026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3d028f43242cc"/>
          <a:stretch xmlns:a="http://schemas.openxmlformats.org/drawingml/2006/main"/>
        </p:blipFill>
        <p:spPr>
          <a:xfrm xmlns:a="http://schemas.openxmlformats.org/drawingml/2006/main">
            <a:off x="39004875" y="6096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E9342-2177-4544-A878-FAD68D40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0" y="31051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코드와 문서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C7CAE-C5D7-4989-8447-1D9B6FA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4023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3A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219B2-BAE3-4059-899B-CB7F8C3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1219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배경과 연구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53505-1758-4E2B-837B-93E3AFEF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3F82C-2BC5-4620-B80F-FEE8F1F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19750"/>
            <a:ext cx="1219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7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사진과 물건을 매개로 과거 경험을 이야기하는 회상 활동은 삶의 질, 인지, 의사소통에서 작거나 일관되지 않은 효과가 보고됐다 [1]. 디지털 회상 중재의 가능성도 파일럿 연구에서 검토됐다 [2].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B1438-E05A-480E-9609-3A65AE73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47712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연구 질문은 익숙한 사진 화면에서 회상 대화와 루틴 기록을 이어가고, 음성 원문을 남기지 않은 지표로 개인 패턴의 변화를 설명할 수 있는가이다.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51253-5ED2-4315-825D-FC295C3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910590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세 가지 문제 정의와 설계 대응</a:t>
            </a:r>
          </a:p>
        </p:txBody>
      </p:sp>
      <p:graphicFrame>
        <p:nvGraphicFramePr>
          <p:cNvPr id="121" name=""/>
          <p:cNvGraphicFramePr/>
          <p:nvPr/>
        </p:nvGraphicFramePr>
        <p:xfrm>
          <a:off xmlns:a="http://schemas.openxmlformats.org/drawingml/2006/main" x="1285875" y="9639300"/>
          <a:ext xmlns:a="http://schemas.openxmlformats.org/drawingml/2006/main" cx="12192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9334500"/>
              </a:tblGrid>
              <a:tr h="7143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문제 정의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 대응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</a:tr>
              <a:tr h="7143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상호작용 부담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큰 문구, 큰 기록 버튼, 짧은 흐름 [3]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민감 정보 잔존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WAV·transcript·생성 음성 비저장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714375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집단 임계값의 한계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루틴과 대화를 분리해 개인 이력과 비교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DEF4B-434D-4E7D-A47F-1F1D4FDE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068300"/>
            <a:ext cx="1219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스마트 액자 상호작용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09412-264F-49FB-9B6A-CBA6B76E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687425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DBC49-0316-4CF0-8A7D-F4CA1977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982700"/>
            <a:ext cx="1123950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02A31"/>
          </a:solidFill>
          <a:ln xmlns:a="http://schemas.openxmlformats.org/drawingml/2006/main" w="19050">
            <a:solidFill>
              <a:srgbClr val="202A3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F042B-30E6-4E24-BF19-E9A82D2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192250"/>
            <a:ext cx="10820400" cy="2295525"/>
          </a:xfrm>
          <a:prstGeom xmlns:a="http://schemas.openxmlformats.org/drawingml/2006/main" prst="roundRect">
            <a:avLst>
              <a:gd name="adj" fmla="val 5809"/>
            </a:avLst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2A98F-B038-41CC-AA0B-974E29F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049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AB9D8-BFDC-4E78-9438-9056B00A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3637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7월 27일 월요일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B0DC9-7643-4A82-9BA5-795071C3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859000"/>
            <a:ext cx="10439400" cy="1419225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DDE7E4"/>
          </a:solidFill>
          <a:ln xmlns:a="http://schemas.openxmlformats.org/drawingml/2006/main" w="19050">
            <a:solidFill>
              <a:srgbClr val="A9BB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0CB27-C4DE-48F5-AD66-83F3CA0B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682151"/>
            <a:ext cx="10058400" cy="425767"/>
          </a:xfrm>
          <a:prstGeom xmlns:a="http://schemas.openxmlformats.org/drawingml/2006/main" prst="roundRect">
            <a:avLst>
              <a:gd name="adj" fmla="val 8949"/>
            </a:avLst>
          </a:prstGeom>
          <a:solidFill xmlns:a="http://schemas.openxmlformats.org/drawingml/2006/main">
            <a:srgbClr val="AFC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69C9A-07EB-4D83-8D8B-2E5E09EC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1508607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26B8D-BA92-4BEE-8C08-EA86E4E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341537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가족사진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64B77-3C55-4025-ACF8-9873717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830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평상시 · 날짜와 가족사진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B0508-0923-42ED-9C67-FBF37D66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335500"/>
            <a:ext cx="1123950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02A31"/>
          </a:solidFill>
          <a:ln xmlns:a="http://schemas.openxmlformats.org/drawingml/2006/main" w="19050">
            <a:solidFill>
              <a:srgbClr val="202A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B0AE0-132E-4881-AE15-E3A5868D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545050"/>
            <a:ext cx="10820400" cy="2295525"/>
          </a:xfrm>
          <a:prstGeom xmlns:a="http://schemas.openxmlformats.org/drawingml/2006/main" prst="roundRect">
            <a:avLst>
              <a:gd name="adj" fmla="val 5809"/>
            </a:avLst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92E87-CBFF-4C51-9A7D-0872EA95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40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059D9-1E05-4E6D-93C5-45CDE247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73555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오전 9:00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D74A2F-50E6-42A6-8BD5-AAD417BC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326100"/>
            <a:ext cx="10058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아침 약을 드신 뒤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3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기록해 주세요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FB5CD-818A-4E87-81FF-D34E293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021425"/>
            <a:ext cx="948690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0C6B63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30E5A6-6671-48CE-8534-080041FE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021425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아침 약 기록하기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F8C47-4D7A-4560-9C65-2F8E5210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358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루틴 · 실제 수행 뒤 큰 버튼으로 기록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F8A4FD-36A3-4873-BCDE-08E5B11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688300"/>
            <a:ext cx="11239500" cy="271462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02A31"/>
          </a:solidFill>
          <a:ln xmlns:a="http://schemas.openxmlformats.org/drawingml/2006/main" w="19050">
            <a:solidFill>
              <a:srgbClr val="202A3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A6256-D589-461F-BDEB-EF613A1F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897850"/>
            <a:ext cx="10820400" cy="2295525"/>
          </a:xfrm>
          <a:prstGeom xmlns:a="http://schemas.openxmlformats.org/drawingml/2006/main" prst="roundRect">
            <a:avLst>
              <a:gd name="adj" fmla="val 5809"/>
            </a:avLst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8F2D3A-705D-4D3D-8A7F-96806E57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754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A7FDF1-D6AE-4898-B388-D7601B6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088350"/>
            <a:ext cx="3678936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DDE7E4"/>
          </a:solidFill>
          <a:ln xmlns:a="http://schemas.openxmlformats.org/drawingml/2006/main" w="19050">
            <a:solidFill>
              <a:srgbClr val="A9BB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EA8C04-EC41-4D15-9953-9ECBE9D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198775"/>
            <a:ext cx="3297936" cy="574358"/>
          </a:xfrm>
          <a:prstGeom xmlns:a="http://schemas.openxmlformats.org/drawingml/2006/main" prst="roundRect">
            <a:avLst>
              <a:gd name="adj" fmla="val 6633"/>
            </a:avLst>
          </a:prstGeom>
          <a:solidFill xmlns:a="http://schemas.openxmlformats.org/drawingml/2006/main">
            <a:srgbClr val="AFC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2BF02-85EB-4939-88B0-8C78AE9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805" y="2139467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C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7F914E-04A5-4062-9D0A-384E4282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739289"/>
            <a:ext cx="329793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가족사진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DC2DFC-5A7B-4405-BA32-1D4801A5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210" y="21316950"/>
            <a:ext cx="595122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이 사진을 천천히 보시고,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떠오르는 이야기가 있으면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들려주세요.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DC82CB-5A1C-40E8-BA11-157258B5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210" y="225266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음성 입력 대기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E960DA-B248-4443-AC6B-65746267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886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회상 대화 · 고정된 개방형 질문과 음성 입력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DFB4C3-ECDB-48CD-A134-9923D17F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50625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그림 1. API 계약 기반 화면 시안. 사용자용 프론트엔드와 실제 장치 사진은 현재 저장소에 포함되어 있지 않다.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CEF6EC-6571-470D-99F2-AE7368E5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762500"/>
            <a:ext cx="27231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시스템과 데이터 보존 경계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4D382C-F56F-4551-BB28-6541BDF9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381625"/>
            <a:ext cx="2723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F56358-C78C-455E-B7E5-6E06F6E7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619750"/>
            <a:ext cx="27231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음성 입력은 ETRI로 전송되며, Raspberry Pi에서는 transcript를 즉시 지표로 축약한다. Supertonic 3 합성은 로컬에서 수행된다.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2843D7-F229-489D-9F2B-D6D909E2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0" y="9334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C6B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DCE103-7396-4386-A8EC-456AC747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0" y="72390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86D9A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55F5A2-B2CB-4501-931C-8C8D37B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0" y="81915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86D9A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36A291-6643-4859-A4A6-B07BCCB6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0" y="10572750"/>
            <a:ext cx="2238375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5E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9893BA-49F0-4675-ABB0-10116ED3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0" y="12382500"/>
            <a:ext cx="0" cy="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C6B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535716-EF2C-4114-BDCE-03EDC866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0" y="107632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C6B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F3C9DD-9476-4977-B3DE-8EDB20B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7239000"/>
            <a:ext cx="5048250" cy="4953000"/>
          </a:xfrm>
          <a:prstGeom xmlns:a="http://schemas.openxmlformats.org/drawingml/2006/main" prst="roundRect">
            <a:avLst>
              <a:gd name="adj" fmla="val 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A5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B5478D-48F1-426A-B6B9-C737218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7429500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태블릿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D283A5-74FE-4EF2-98F1-A5C0B96E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7981950"/>
            <a:ext cx="45529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가족사진 표시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큰 기록 버튼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마이크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스피커·WAV 재생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07DC2C-587A-44E8-A15B-D68D8A2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9906000"/>
            <a:ext cx="3714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865F4D-CE50-48B1-964A-534C9AC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9906000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화면 · 마이크 · 스피커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25B8B9-E2CE-4907-A688-07FF3150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0" y="6762750"/>
            <a:ext cx="8286750" cy="5619750"/>
          </a:xfrm>
          <a:prstGeom xmlns:a="http://schemas.openxmlformats.org/drawingml/2006/main" prst="roundRect">
            <a:avLst>
              <a:gd name="adj" fmla="val 3051"/>
            </a:avLst>
          </a:prstGeom>
          <a:solidFill xmlns:a="http://schemas.openxmlformats.org/drawingml/2006/main">
            <a:srgbClr val="E4F1EE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B6B239-6D78-48F2-A21F-69E1E4CA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0" y="6953250"/>
            <a:ext cx="7791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Raspberry Pi · FastAPI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8E3E5D-86E1-47C1-9FE5-5214D53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0" y="7505700"/>
            <a:ext cx="77914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루틴 상태 전이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회상 질문과 대화 지표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Supertonic 3 로컬 TTS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개인 기준 이상 탐지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보호자 알림 조정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10FEF7-6000-44B6-88CB-2C0E17C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25" y="6048375"/>
            <a:ext cx="7953375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19050">
            <a:solidFill>
              <a:srgbClr val="386D9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2BC213-3DBB-4883-8C9F-849EC8F9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0775" y="6238875"/>
            <a:ext cx="7458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rPr>
              <a:t>ETRI 음성인식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ACD0C2-B237-4625-97E8-90FDCD56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0775" y="6791325"/>
            <a:ext cx="74580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16 kHz mono PCM WAV 전송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transcript는 메모리에서만 사용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DA8C4E-CD58-41D2-A8D3-89BC5579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25" y="10096500"/>
            <a:ext cx="7953375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7EAE4"/>
          </a:solidFill>
          <a:ln xmlns:a="http://schemas.openxmlformats.org/drawingml/2006/main" w="19050">
            <a:solidFill>
              <a:srgbClr val="B85E3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1B5C53-484D-4523-A3D9-7ABF8539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0775" y="10287000"/>
            <a:ext cx="7458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rPr>
              <a:t>보호자 이메일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149DA7-0DE4-4591-B5DC-87C831DE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0775" y="10839450"/>
            <a:ext cx="74580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현재 이상 근거를 episode당 한 번 전송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의료적 해석과 응급 판단 제외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B88BC8-0FB6-4E67-8AD0-A47E15E5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0" y="13858875"/>
            <a:ext cx="82867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19050">
            <a:solidFill>
              <a:srgbClr val="447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F007B5-BD31-4E0F-9CBD-E8726985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0" y="14049375"/>
            <a:ext cx="7791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4473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44735B"/>
                </a:solidFill>
                <a:latin typeface="Apple SD Gothic Neo"/>
                <a:ea typeface="Apple SD Gothic Neo"/>
                <a:cs typeface="Apple SD Gothic Neo"/>
              </a:rPr>
              <a:t>로컬 JSON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442E1A-90AC-413F-B411-E368A18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0" y="14601825"/>
            <a:ext cx="7791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루틴 상태 · 대화 지표 · 최신 개인 상태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원본 음성·대화 원문·생성 WAV 미보존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4330DB-733D-462B-AA62-D4188700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3375" y="8810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로컬 처리·재생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68A414-C998-485F-A72B-254A7F0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0" y="6238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rPr>
              <a:t>외부 전송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B626B3-C63F-4095-84D7-84A3625E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0" y="13087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지표 저장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3E39EE-8A1B-4728-A233-D86190D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0" y="11049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rPr>
              <a:t>근거 전송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FC1ACAE-25AC-4E9E-B75A-F079DFC0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6192500"/>
            <a:ext cx="27231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그림 2. 실제 구현 기준 시스템 경계. 파란 점선은 ETRI 외부 통신, 청록색은 로컬 처리·저장, 주황색은 SMTP 알림을 나타낸다.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599E7B5-DA24-44B2-A04F-7B3960B7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7240250"/>
            <a:ext cx="1257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개인 기준 이상 평가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ECF262-A3E2-4259-8C43-2AC376E3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7859375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4CB108-36F9-4E6F-A8BC-346EF276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8078450"/>
            <a:ext cx="1257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루틴과 회상 대화를 별도 영역으로 평가하며, 한 영역이 이상이면 현재 상태를 ANOMALOUS로 기록한다.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135154-B999-4BC7-8A9A-A92CF80C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0812125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6B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25D63D-BDAC-4CD4-99F6-E18EF2D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25" y="20812125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6B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FDBA60-E5CD-40CB-BBA8-7AC462DD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352675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86D9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63988B-5455-449A-B7BE-A53570A9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25" y="2352675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86D9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B4661E8-E995-45E6-85D0-191E8E33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9431000"/>
            <a:ext cx="2381250" cy="2714625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4F1EE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D7CEB3-90A9-4EAA-A328-F17948FB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9621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루틴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EAA9588-5664-45F1-8189-8F878245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0173950"/>
            <a:ext cx="18859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28일 이하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같은 루틴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3회 연속 미응답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25C654-7FBE-4F91-B6B2-74CCDC1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25" y="19431000"/>
            <a:ext cx="381000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C6B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00FF73-6279-40D5-A1AE-70CFD6F6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4275" y="19621500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0C6B63"/>
                </a:solidFill>
                <a:latin typeface="Apple SD Gothic Neo"/>
                <a:ea typeface="Apple SD Gothic Neo"/>
                <a:cs typeface="Apple SD Gothic Neo"/>
              </a:rPr>
              <a:t>29번째 일부터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DEF875-1209-4F74-A6E5-90500BEB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4275" y="20173950"/>
            <a:ext cx="33147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미응답 비율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평균 확인 지연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C177EC-A906-4D2A-B997-6ECDCE98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0" y="19431000"/>
            <a:ext cx="2381250" cy="2714625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19050">
            <a:solidFill>
              <a:srgbClr val="183A5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E41434-B3D0-4F1E-9C7A-5E81DE06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650" y="19621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모델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48DA88C-A247-47E4-9C79-3CD6D83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650" y="20173950"/>
            <a:ext cx="18859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StandardScaler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IsolationForest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A50887-F5BF-42F0-BF51-359C2D41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2145625"/>
            <a:ext cx="2381250" cy="2714625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19050">
            <a:solidFill>
              <a:srgbClr val="386D9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F6F398-61DE-48CF-AC55-69C02276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2336125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rPr>
              <a:t>대화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939163-BA8A-4A7F-87DA-C87F8A07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2888575"/>
            <a:ext cx="18859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20세션 이하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데이터 부족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정상 유지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3C5485-995C-49C7-887A-4E9CE90D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25" y="22145625"/>
            <a:ext cx="381000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86D9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DA3F770-A886-4D00-9244-883FA44E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4275" y="22336125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386D9A"/>
                </a:solidFill>
                <a:latin typeface="Apple SD Gothic Neo"/>
                <a:ea typeface="Apple SD Gothic Neo"/>
                <a:cs typeface="Apple SD Gothic Neo"/>
              </a:rPr>
              <a:t>21번째 세션부터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0EC070-6F1A-4824-9963-F8D6DCF0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4275" y="22888575"/>
            <a:ext cx="33147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7일 턴 수 · 총 글자 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평균 글자·시간 · 무응답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D9743A-269F-42D7-AAD1-48F756BA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0" y="22145625"/>
            <a:ext cx="2381250" cy="2714625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19050">
            <a:solidFill>
              <a:srgbClr val="183A5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3F1D01-B4D8-4A18-96AA-BD7A4E54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650" y="22336125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모델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C5F0F5-BB67-4D03-B1BF-24F91CCE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650" y="22888575"/>
            <a:ext cx="18859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StandardScaler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IsolationForest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A60279-82FA-4994-935E-C935362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5050750"/>
            <a:ext cx="1257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그림 3. detector.py 구현의 콜드 스타트와 모델 활성화 경계. Isolation Forest 설정은 100 trees, contamination 0.1, seed 42이다 [4].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D34C141-4299-49D4-ADF0-623550E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25" y="17240250"/>
            <a:ext cx="13849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0" i="0">
                <a:solidFill>
                  <a:srgbClr val="183A56"/>
                </a:solidFill>
                <a:latin typeface="Apple SD Gothic Neo"/>
                <a:ea typeface="Apple SD Gothic Neo"/>
                <a:cs typeface="Apple SD Gothic Neo"/>
              </a:rPr>
              <a:t>소프트웨어 검증과 한계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69FC8E-9CC1-4C07-8F9D-5E77FE8D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25" y="17859375"/>
            <a:ext cx="1384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A56"/>
            </a:solidFill>
            <a:prstDash val="solid"/>
          </a:ln>
        </p:spPr>
      </p:sp>
      <p:graphicFrame>
        <p:nvGraphicFramePr>
          <p:cNvPr id="211" name=""/>
          <p:cNvGraphicFramePr/>
          <p:nvPr/>
        </p:nvGraphicFramePr>
        <p:xfrm>
          <a:off xmlns:a="http://schemas.openxmlformats.org/drawingml/2006/main" x="27670125" y="18097500"/>
          <a:ext xmlns:a="http://schemas.openxmlformats.org/drawingml/2006/main" cx="138493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991850"/>
              </a:tblGrid>
              <a:tr h="6858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검사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결과</a:t>
                      </a:r>
                    </a:p>
                  </a:txBody>
                  <a:tcPr marL="91440" marR="91440" marT="45720" marB="45720">
                    <a:solidFill>
                      <a:srgbClr val="183A56"/>
                    </a:solidFill>
                  </a:tcPr>
                </a:tc>
              </a:tr>
              <a:tr h="6858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pytest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172 passed · 1 warning · 1.80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Ruff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All checks passed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  <a:tr h="6858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mypy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 source files · no issues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흐름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  <a:tc>
                  <a:txBody>
                    <a:bodyPr lIns="95250" tIns="57150" rIns="95250" bIns="57150" anchor="ctr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3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 비저장 · 3회 미응답 · 이메일 1회</a:t>
                      </a:r>
                    </a:p>
                  </a:txBody>
                  <a:tcPr marL="91440" marR="91440" marT="45720" marB="45720">
                    <a:solidFill>
                      <a:srgbClr val="F1F4F5"/>
                    </a:solidFill>
                  </a:tcPr>
                </a:tc>
              </a:tr>
            </a:tbl>
          </a:graphicData>
        </a:graphic>
      </p:graphicFrame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62B26D5-42C9-46B0-8B35-953EA88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25" y="21812250"/>
            <a:ext cx="1384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rPr>
              <a:t>현재 평가하지 않은 항목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BA37C3-5417-41B0-9DB9-8866C2B5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25" y="22288500"/>
            <a:ext cx="13849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9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 i="0">
                <a:solidFill>
                  <a:srgbClr val="17232D"/>
                </a:solidFill>
                <a:latin typeface="Apple SD Gothic Neo"/>
                <a:ea typeface="Apple SD Gothic Neo"/>
                <a:cs typeface="Apple SD Gothic Neo"/>
              </a:rPr>
              <a:t>ETRI WER·CER, Raspberry Pi TTS 지연·RTF, 이상 탐지 정확도, 사용자 연구와 임상 효과는 측정하지 않았다. 외부 ETRI·Supertonic·SMTP 경계는 테스트 대역으로 검증했다.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36035C-EC66-4C75-A14F-BCC170F3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25" y="23955375"/>
            <a:ext cx="138493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AE4"/>
          </a:solidFill>
          <a:ln xmlns:a="http://schemas.openxmlformats.org/drawingml/2006/main" w="19050">
            <a:solidFill>
              <a:srgbClr val="B85E3B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16336D8-75BE-4313-A5A8-97CE22AF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8725" y="24136350"/>
            <a:ext cx="1339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i="0">
                <a:solidFill>
                  <a:srgbClr val="B85E3B"/>
                </a:solidFill>
                <a:latin typeface="Apple SD Gothic Neo"/>
                <a:ea typeface="Apple SD Gothic Neo"/>
                <a:cs typeface="Apple SD Gothic Neo"/>
              </a:rPr>
              <a:t>의료 진단, 복약 판단, 응급 신고를 수행하지 않는다. 보호자가 직접 확인할 수 있도록 현재 변화 근거를 제공하는 비임상 프로토타입이다.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FB523D0-07A6-47B5-9085-866E7392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622375"/>
            <a:ext cx="4023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DB44C2-C658-41F7-9F26-9D7B856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908125"/>
            <a:ext cx="4023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52616C"/>
                </a:solidFill>
                <a:latin typeface="Apple SD Gothic Neo"/>
                <a:ea typeface="Apple SD Gothic Neo"/>
                <a:cs typeface="Apple SD Gothic Neo"/>
              </a:rPr>
              <a:t>참고문헌  [1] Woods et al., Cochrane Database Syst Rev, 2018, CD001120.  [2] Moon &amp; Park, BMC Geriatrics, 2020, 20:166.  [3] W3C WAI, Older Users and Web Accessibility.  [4] Liu, Ting &amp; Zhou, ICDM, 2008, 413-422.  [5] ETRI AI Open API.  [6] Supertone, Supertonic 3.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CF56784-6762-4CCC-9415-96CD96E8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003500"/>
            <a:ext cx="4023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7B899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 i="0">
                <a:solidFill>
                  <a:srgbClr val="7B8992"/>
                </a:solidFill>
                <a:latin typeface="Apple SD Gothic Neo"/>
                <a:ea typeface="Apple SD Gothic Neo"/>
                <a:cs typeface="Apple SD Gothic Neo"/>
              </a:rPr>
              <a:t>구현 근거: Reminiscence-BE develop · 2026-07-27  |  사용자 데이터와 실제 장치 사진 없음  |  재현 수치는 합성 테스트 fixture에 한정</a:t>
            </a:r>
          </a:p>
        </p:txBody>
      </p:sp>
    </p:spTree>
    <p:extLst>
      <p:ext uri="{BB962C8B-B14F-4D97-AF65-F5344CB8AC3E}">
        <p14:creationId xmlns:p14="http://schemas.microsoft.com/office/powerpoint/2010/main" val="406269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2026-07-26T19:06:38.9220000Z</dcterms:created>
  <dcterms:modified xsi:type="dcterms:W3CDTF">2026-07-26T19:06:38.9220000Z</dcterms:modified>
</coreProperties>
</file>